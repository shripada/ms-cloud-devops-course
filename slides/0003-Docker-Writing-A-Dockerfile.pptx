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822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Third deck in the Docker series. Goal: read and write a real Dockerfile, ending with a production-grade multi-stage build for a TypeScript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blog/docker-best-practices-using-arg-and-env-in-your-dockerfile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355080"/>
            <a:ext cx="12191695" cy="0"/>
          </a:xfrm>
          <a:prstGeom prst="line">
            <a:avLst/>
          </a:prstGeom>
          <a:noFill/>
          <a:ln w="15240">
            <a:solidFill>
              <a:srgbClr val="0A6BA8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· PART THREE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a </a:t>
            </a:r>
            <a:r>
              <a:rPr lang="en-US" sz="6600" b="1" i="1" dirty="0">
                <a:solidFill>
                  <a:srgbClr val="8FC3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instructions that matter — built around a TypeScript Express server.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955280" y="3977640"/>
            <a:ext cx="3566160" cy="1975104"/>
          </a:xfrm>
          <a:prstGeom prst="roundRect">
            <a:avLst>
              <a:gd name="adj" fmla="val 4630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275320" y="4123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4453128"/>
            <a:ext cx="356616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275320" y="4544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48371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2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51297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2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54223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2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["node","…"]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EXAMPLE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TypeScript Express server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373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doesn't run directly — it compiles to JavaScript. So our build has an extra step the Dockerfile must handle.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1600200" cy="640080"/>
          </a:xfrm>
          <a:prstGeom prst="roundRect">
            <a:avLst>
              <a:gd name="adj" fmla="val 42857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src/*.ts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3703320"/>
            <a:ext cx="64008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286000" y="3310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3383280"/>
            <a:ext cx="1600200" cy="640080"/>
          </a:xfrm>
          <a:prstGeom prst="roundRect">
            <a:avLst>
              <a:gd name="adj" fmla="val 42857"/>
            </a:avLst>
          </a:prstGeom>
          <a:solidFill>
            <a:srgbClr val="D6E5EE"/>
          </a:solidFill>
          <a:ln w="12700">
            <a:solidFill>
              <a:srgbClr val="0A6B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10896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7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dist/*.js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3703320"/>
            <a:ext cx="640080" cy="0"/>
          </a:xfrm>
          <a:prstGeom prst="line">
            <a:avLst/>
          </a:prstGeom>
          <a:noFill/>
          <a:ln w="3175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63440" y="3310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3383280"/>
            <a:ext cx="1600200" cy="640080"/>
          </a:xfrm>
          <a:prstGeom prst="roundRect">
            <a:avLst>
              <a:gd name="adj" fmla="val 42857"/>
            </a:avLst>
          </a:prstGeom>
          <a:solidFill>
            <a:srgbClr val="0A6B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532120" y="33832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2976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 →  tsc compiles src/ into dist/, then node runs dist/index.js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43800" y="1691640"/>
            <a:ext cx="3977640" cy="3364992"/>
          </a:xfrm>
          <a:prstGeom prst="roundRect">
            <a:avLst>
              <a:gd name="adj" fmla="val 2717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863840" y="18379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2167128"/>
            <a:ext cx="397764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863840" y="22585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my-server/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6243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package.json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29900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tsconfig.json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33558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.dockerignore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72160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Dockerfile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0873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45312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C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index.ts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instructions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keywords do almost everything.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FROM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Dockerfile starts here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base image you build on — here, an official image with Node.js and npm already installed.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a version (node:20), never node:latest — it keeps builds repeatable.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1463040"/>
          </a:xfrm>
          <a:prstGeom prst="roundRect">
            <a:avLst>
              <a:gd name="adj" fmla="val 6250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Node.js runtime, prebuilt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278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WORKDIR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directory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folder inside the image where later instructions run, and where your app lives. Every relative path is measured from here.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creates the folder automatically if it doesn't exist.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1792224"/>
          </a:xfrm>
          <a:prstGeom prst="roundRect">
            <a:avLst>
              <a:gd name="adj" fmla="val 5102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5570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  now lands in /app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COPY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files into the image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files from your project into the image. Order matters: copy the manifests first, install, then copy the rest.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Manifests first = npm install stays cached until your dependencies actually change.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2779776"/>
          </a:xfrm>
          <a:prstGeom prst="roundRect">
            <a:avLst>
              <a:gd name="adj" fmla="val 3289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manifests first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278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5570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ci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21538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then the source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5445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RUN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build step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command while building and saves the result as a new layer — installing packages, compiling your TypeScript.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related commands with &amp;&amp; so you create fewer, leaner layers.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2450592"/>
          </a:xfrm>
          <a:prstGeom prst="roundRect">
            <a:avLst>
              <a:gd name="adj" fmla="val 3731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install, then compile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278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ci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5570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run build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4215384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RUN = one layer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ENV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runtime variables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environment variables that stay in the image and are visible to your app while it runs.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config your Express app already reads from </a:t>
            </a:r>
            <a:r>
              <a:rPr lang="en-US" sz="1400" i="1" dirty="0" err="1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process.env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Be very careful, not to put any sensitive data here.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Refer this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2121408"/>
          </a:xfrm>
          <a:prstGeom prst="roundRect">
            <a:avLst>
              <a:gd name="adj" fmla="val 4310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NODE_ENV=production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227832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PORT=3000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88620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reads process.env.PORT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INSTRUCTION · EXPOSE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port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68880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which port the app listens on. It's documentation — you still publish the port with -p when you run the container.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5166360"/>
            <a:ext cx="5257800" cy="914400"/>
          </a:xfrm>
          <a:prstGeom prst="roundRect">
            <a:avLst>
              <a:gd name="adj" fmla="val 10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51663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documents; docker run -p actually publishes the 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2331720"/>
            <a:ext cx="5074920" cy="1792224"/>
          </a:xfrm>
          <a:prstGeom prst="roundRect">
            <a:avLst>
              <a:gd name="adj" fmla="val 5102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75120" y="247802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807208"/>
            <a:ext cx="50749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675120" y="289864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35570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3000:3000 …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 VS ENV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Build-time vs run-time variables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9456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only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29184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80160" y="34381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76732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38587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</a:t>
            </a:r>
            <a:r>
              <a:rPr lang="en-US" sz="13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NODE_VERSION=20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3434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while building. Set with --build-arg. Gone from the final image.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7208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926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build-time and run-time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29184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40880" y="34381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376732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040880" y="38587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13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NODE_ENV=production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43434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into the running container. Your app can read it from process.env.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VS ENTRYPOINT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when the container starts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574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— easily overridden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4526280" cy="868680"/>
          </a:xfrm>
          <a:prstGeom prst="roundRect">
            <a:avLst>
              <a:gd name="adj" fmla="val 10526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80160" y="3255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58444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280160" y="36758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3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["node","dist/index.js"]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1605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img bash replaces it entirely.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0574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720840" y="22585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7432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program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3108960"/>
            <a:ext cx="4526280" cy="1170432"/>
          </a:xfrm>
          <a:prstGeom prst="roundRect">
            <a:avLst>
              <a:gd name="adj" fmla="val 7813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040880" y="325526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358444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040880" y="367588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ENTRYPOINT</a:t>
            </a:r>
            <a:r>
              <a:rPr lang="en-US" sz="13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["node"]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9867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3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["dist/index.js"]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44348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container always runs node; args are appended.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85800" y="534924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E2EFE9"/>
          </a:solidFill>
          <a:ln w="12700">
            <a:solidFill>
              <a:srgbClr val="1C7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6012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exec form (JSON array), </a:t>
            </a: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shell form (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CMD node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index.js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/>
              <a:t>) </a:t>
            </a:r>
            <a:r>
              <a:rPr lang="en-US" sz="15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Ctrl-C / SIGTERM reaches your server for a clean shutdown.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SIDEKICK FILE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.dockerignore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instruction — a sibling file that tells COPY what to skip. It keeps the build fast and stops host junk from landing in your image.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50292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50292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6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35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the host's node_modules can break the image — those binaries were built for a different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03720" y="1920240"/>
            <a:ext cx="4617720" cy="3364992"/>
          </a:xfrm>
          <a:prstGeom prst="roundRect">
            <a:avLst>
              <a:gd name="adj" fmla="val 2717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223760" y="206654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.dockerignore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903720" y="2395728"/>
            <a:ext cx="461772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223760" y="24871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.dockerignore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8529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321868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3584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9502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315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46817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514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880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working Dockerfile to a good one.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ATTEMPT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Dockerfile that works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6309360" cy="3877056"/>
          </a:xfrm>
          <a:prstGeom prst="roundRect">
            <a:avLst>
              <a:gd name="adj" fmla="val 2358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9751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304288"/>
            <a:ext cx="630936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39572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7797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1638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547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install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319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31596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run build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70001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3000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50840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5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["node","dist/index.js"]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1945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builds. It runs. Everything you've learned, in eight lines.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0" y="4206240"/>
            <a:ext cx="4206240" cy="1463040"/>
          </a:xfrm>
          <a:prstGeom prst="roundRect">
            <a:avLst>
              <a:gd name="adj" fmla="val 7500"/>
            </a:avLst>
          </a:prstGeom>
          <a:solidFill>
            <a:srgbClr val="F6ECDD"/>
          </a:solidFill>
          <a:ln w="12700">
            <a:solidFill>
              <a:srgbClr val="B565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589520" y="4206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But… </a:t>
            </a:r>
            <a:r>
              <a:rPr lang="en-US" sz="1500" i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much bigger than it needs to be. Next slide: why.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ships everything, not just the app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276856"/>
            <a:ext cx="530352" cy="530352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409444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1488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node:20 image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1488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GB before your code even lands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3044952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914400" y="3172968"/>
            <a:ext cx="530352" cy="530352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3305556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04495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TypeScript source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3044952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only needs the compiled dist/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" y="3941064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069080"/>
            <a:ext cx="530352" cy="530352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201668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39410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devDependencies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760720" y="394106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@types, linters — build-only tools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85800" y="4837176"/>
            <a:ext cx="10835640" cy="777240"/>
          </a:xfrm>
          <a:prstGeom prst="roundRect">
            <a:avLst>
              <a:gd name="adj" fmla="val 11765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965192"/>
            <a:ext cx="530352" cy="530352"/>
          </a:xfrm>
          <a:prstGeom prst="ellipse">
            <a:avLst/>
          </a:prstGeom>
          <a:solidFill>
            <a:srgbClr val="B5651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_ti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5097780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483717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7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as root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483717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risk you don't need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594360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build in one image, ship from a smaller one — a multi-stage build.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Multi-stage: build big, ship small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Dockerfile, two stages. The first compiles everything; the second keeps only what runs.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builder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 (full)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65760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234440" y="3657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051560" y="41605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34440" y="4160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source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51560" y="4663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234440" y="4663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tsc → dist/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257800" y="4023360"/>
            <a:ext cx="1371600" cy="0"/>
          </a:xfrm>
          <a:prstGeom prst="line">
            <a:avLst/>
          </a:prstGeom>
          <a:noFill/>
          <a:ln w="38100">
            <a:solidFill>
              <a:srgbClr val="0A6BA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dist/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40880" y="265176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26948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runtime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5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node:20-slim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69480" y="365760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0E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452360" y="36576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deps only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269480" y="416052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0E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52360" y="4160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dist/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269480" y="4663440"/>
            <a:ext cx="3840480" cy="384048"/>
          </a:xfrm>
          <a:prstGeom prst="roundRect">
            <a:avLst>
              <a:gd name="adj" fmla="val 14286"/>
            </a:avLst>
          </a:prstGeom>
          <a:solidFill>
            <a:srgbClr val="0E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52360" y="46634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source, no tsc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806440"/>
            <a:ext cx="10835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builder stage is thrown away — only the final stage becomes your image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PRODUCTION DOCKERFILE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multi-stage version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6720840" cy="4690872"/>
          </a:xfrm>
          <a:prstGeom prst="roundRect">
            <a:avLst>
              <a:gd name="adj" fmla="val 1949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792224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2121408"/>
            <a:ext cx="672084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22128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 — build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414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 AS builder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6700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8986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272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ci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3558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844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run build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8130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 — runtime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40416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node:20-slim AS runtime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2702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44988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NODE_ENV=production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7274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package*.json ./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9560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npm ci --omit=dev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51846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r>
              <a:rPr lang="en-US" sz="1200" dirty="0">
                <a:solidFill>
                  <a:srgbClr val="E0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--from=builder /app/dist ./dist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54132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3000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6418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7044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["node","dist/index.js"]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2606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exact installs from the lockfile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118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--omit=dev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3924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skips build-only packages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3904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--from=builder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4178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just the compiled dist/ across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4690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node:20-slim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4965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much smaller runtime base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547725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node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680960" y="57515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a non-root user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FINISHING TOUCHES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Safer and self-checking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377440"/>
            <a:ext cx="685800" cy="685800"/>
          </a:xfrm>
          <a:prstGeom prst="ellipse">
            <a:avLst/>
          </a:prstGeom>
          <a:solidFill>
            <a:srgbClr val="0A6BA8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0" y="254889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3375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as root. Switch to an unprivileged user so a break-in can't do as much.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0120" y="4617720"/>
            <a:ext cx="4526280" cy="822960"/>
          </a:xfrm>
          <a:prstGeom prst="roundRect">
            <a:avLst>
              <a:gd name="adj" fmla="val 11111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280160" y="4764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509320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80160" y="51846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r>
              <a:rPr lang="en-US" sz="14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46520" y="210312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AF2F7"/>
          </a:solidFill>
          <a:ln w="12700">
            <a:solidFill>
              <a:srgbClr val="D5DF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720840" y="2377440"/>
            <a:ext cx="685800" cy="685800"/>
          </a:xfrm>
          <a:prstGeom prst="ellipse">
            <a:avLst/>
          </a:prstGeom>
          <a:solidFill>
            <a:srgbClr val="1C7A6B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/home/claude/icon_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290" y="254889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952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720840" y="33375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Docker test that your server is actually responding, not just running.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720840" y="4617720"/>
            <a:ext cx="4526280" cy="822960"/>
          </a:xfrm>
          <a:prstGeom prst="roundRect">
            <a:avLst>
              <a:gd name="adj" fmla="val 11111"/>
            </a:avLst>
          </a:prstGeom>
          <a:solidFill>
            <a:srgbClr val="0B1F2A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7040880" y="47640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720840" y="5093208"/>
            <a:ext cx="4526280" cy="0"/>
          </a:xfrm>
          <a:prstGeom prst="line">
            <a:avLst/>
          </a:prstGeom>
          <a:noFill/>
          <a:ln w="12700">
            <a:solidFill>
              <a:srgbClr val="1D35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7040880" y="51846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B3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</a:t>
            </a:r>
            <a:r>
              <a:rPr lang="en-US" sz="1200" dirty="0">
                <a:solidFill>
                  <a:srgbClr val="D8E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CMD curl localhost:3000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6B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0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app, a fraction of the size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005840" y="2606040"/>
            <a:ext cx="4480560" cy="2651760"/>
          </a:xfrm>
          <a:prstGeom prst="roundRect">
            <a:avLst>
              <a:gd name="adj" fmla="val 4138"/>
            </a:avLst>
          </a:prstGeom>
          <a:solidFill>
            <a:srgbClr val="EA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SINGLE-STAGE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37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51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GB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devDeps + root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2606040"/>
            <a:ext cx="4480560" cy="2651760"/>
          </a:xfrm>
          <a:prstGeom prst="roundRect">
            <a:avLst>
              <a:gd name="adj" fmla="val 4138"/>
            </a:avLst>
          </a:prstGeom>
          <a:solidFill>
            <a:srgbClr val="07293D"/>
          </a:solidFill>
          <a:ln/>
          <a:effectLst>
            <a:outerShdw blurRad="101600" dist="38100" dir="5400000" algn="bl" rotWithShape="0">
              <a:srgbClr val="0A1E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720840" y="2926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MULTI-STAGE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3337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200 MB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4434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deps + dist + non-root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57784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1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— smaller images pull faster, deploy faster, and expose less.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16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instructions, at a glance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21488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base image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609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26609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working folder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729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1729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files in (manifests first)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850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6850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build step → a layer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1488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214884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variables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6609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66090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port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17296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/ ENTRYPOINT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31729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on start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6850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C3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0" y="368503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root for safety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8889"/>
            </a:avLst>
          </a:prstGeom>
          <a:solidFill>
            <a:srgbClr val="0E3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habit that matters most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D6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package.json and install before copying the rest — then build big, ship small with a multi-stage build.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9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once · run anywhere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1347</Words>
  <Application>Microsoft Macintosh PowerPoint</Application>
  <PresentationFormat>Widescreen</PresentationFormat>
  <Paragraphs>270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a Dockerfile</dc:title>
  <dc:subject>PptxGenJS Presentation</dc:subject>
  <dc:creator>Shripada</dc:creator>
  <cp:lastModifiedBy>Shripada Hebbar Nellithadka [MAHE-MSIS]</cp:lastModifiedBy>
  <cp:revision>3</cp:revision>
  <dcterms:created xsi:type="dcterms:W3CDTF">2026-09-20T12:07:53Z</dcterms:created>
  <dcterms:modified xsi:type="dcterms:W3CDTF">2026-09-20T12:22:28Z</dcterms:modified>
</cp:coreProperties>
</file>