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15000"/>
            <a:ext cx="12191695" cy="0"/>
          </a:xfrm>
          <a:prstGeom prst="line">
            <a:avLst/>
          </a:prstGeom>
          <a:noFill/>
          <a:ln w="19050">
            <a:solidFill>
              <a:srgbClr val="0A6BA8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0"/>
          </a:xfrm>
          <a:prstGeom prst="line">
            <a:avLst/>
          </a:prstGeom>
          <a:noFill/>
          <a:ln w="19050">
            <a:solidFill>
              <a:srgbClr val="0A6BA8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355080"/>
            <a:ext cx="12191695" cy="0"/>
          </a:xfrm>
          <a:prstGeom prst="line">
            <a:avLst/>
          </a:prstGeom>
          <a:noFill/>
          <a:ln w="19050">
            <a:solidFill>
              <a:srgbClr val="0A6BA8">
                <a:alpha val="26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71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· PART FOUR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Volumes, </a:t>
            </a:r>
            <a:pPr indent="0" marL="0">
              <a:lnSpc>
                <a:spcPct val="102000"/>
              </a:lnSpc>
              <a:buNone/>
            </a:pPr>
            <a:r>
              <a:rPr lang="en-US" sz="6400" b="1" i="1" dirty="0">
                <a:solidFill>
                  <a:srgbClr val="9C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networks</a:t>
            </a:r>
            <a:pPr indent="0" marL="0">
              <a:lnSpc>
                <a:spcPct val="102000"/>
              </a:lnSpc>
              <a:buNone/>
            </a:pPr>
            <a:endParaRPr lang="en-US" sz="6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Compose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app that keeps data and talks to a database.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595360" y="3794760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9" name="Image 0" descr="/home/claude/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16" y="4014216"/>
            <a:ext cx="475488" cy="47548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601200" y="4251960"/>
            <a:ext cx="685800" cy="0"/>
          </a:xfrm>
          <a:prstGeom prst="line">
            <a:avLst/>
          </a:prstGeom>
          <a:noFill/>
          <a:ln w="50800">
            <a:solidFill>
              <a:srgbClr val="9CCBE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332720" y="3794760"/>
            <a:ext cx="914400" cy="914400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2" name="Image 1" descr="/home/claude/icon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76" y="4014216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0469880" y="4937760"/>
            <a:ext cx="640080" cy="457200"/>
          </a:xfrm>
          <a:prstGeom prst="can">
            <a:avLst/>
          </a:prstGeom>
          <a:solidFill>
            <a:srgbClr val="12405C"/>
          </a:solidFill>
          <a:ln w="20320">
            <a:solidFill>
              <a:srgbClr val="9CCBE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SCENARIO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the app needs a database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Postgres beside our Express server and three new problems appear.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77240" y="25603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88820" y="2926080"/>
            <a:ext cx="1005840" cy="100584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7" name="Image 0" descr="/home/claude/icon_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0222" y="316748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41605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disappears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container is removed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1531620" y="52578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729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31620" y="52578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0" y="25603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83580" y="2926080"/>
            <a:ext cx="1005840" cy="100584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4" name="Image 1" descr="/home/claude/icon_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982" y="3167482"/>
            <a:ext cx="523037" cy="52303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54880" y="41605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can't find each other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5488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must reach the database</a:t>
            </a:r>
            <a:endParaRPr lang="en-US" sz="1650" dirty="0"/>
          </a:p>
        </p:txBody>
      </p:sp>
      <p:sp>
        <p:nvSpPr>
          <p:cNvPr id="17" name="Shape 13"/>
          <p:cNvSpPr/>
          <p:nvPr/>
        </p:nvSpPr>
        <p:spPr>
          <a:xfrm>
            <a:off x="5326380" y="52578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7293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26380" y="52578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8366760" y="256032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578340" y="2926080"/>
            <a:ext cx="1005840" cy="100584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21" name="Image 2" descr="/home/claude/icon_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742" y="3167482"/>
            <a:ext cx="523037" cy="52303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41605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many commands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54964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containers, wired by hand</a:t>
            </a:r>
            <a:endParaRPr lang="en-US" sz="1650" dirty="0"/>
          </a:p>
        </p:txBody>
      </p:sp>
      <p:sp>
        <p:nvSpPr>
          <p:cNvPr id="24" name="Shape 19"/>
          <p:cNvSpPr/>
          <p:nvPr/>
        </p:nvSpPr>
        <p:spPr>
          <a:xfrm>
            <a:off x="9121140" y="52578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7293D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121140" y="52578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8346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data when the container is gone.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· THE PROBLEM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Containers forget everything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container's writable layer is deleted when the container is removed. Fine for a web server — a disaster for a database.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5E7D4"/>
          </a:solidFill>
          <a:ln w="25400">
            <a:solidFill>
              <a:srgbClr val="8F4E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8920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8F4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rm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 container, and every row it stored is gone with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03720" y="2057400"/>
            <a:ext cx="4480560" cy="1783080"/>
          </a:xfrm>
          <a:prstGeom prst="roundRect">
            <a:avLst>
              <a:gd name="adj" fmla="val 6154"/>
            </a:avLst>
          </a:prstGeom>
          <a:solidFill>
            <a:srgbClr val="CBDDEA"/>
          </a:solidFill>
          <a:ln w="25400">
            <a:solidFill>
              <a:srgbClr val="0A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03720" y="2212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145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697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lives here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145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(the writable layer)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09560" y="4251960"/>
            <a:ext cx="2468880" cy="0"/>
          </a:xfrm>
          <a:prstGeom prst="line">
            <a:avLst/>
          </a:prstGeom>
          <a:noFill/>
          <a:ln w="50800">
            <a:solidFill>
              <a:srgbClr val="8F4E1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903720" y="3977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4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rm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26680" y="4572000"/>
            <a:ext cx="28346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4572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— no data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· THE FIX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volume outlives the container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volume is storage Docker keeps outside the container. Containers come and go; the volume — and your data — stays.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54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i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Recreate the container, reattach the same volume — the data is still there.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537960" y="1965960"/>
            <a:ext cx="2148840" cy="1280160"/>
          </a:xfrm>
          <a:prstGeom prst="roundRect">
            <a:avLst>
              <a:gd name="adj" fmla="val 8571"/>
            </a:avLst>
          </a:prstGeom>
          <a:solidFill>
            <a:srgbClr val="CBDDEA"/>
          </a:solidFill>
          <a:ln w="25400">
            <a:solidFill>
              <a:srgbClr val="0A6B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9659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v1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235440" y="1965960"/>
            <a:ext cx="2148840" cy="1280160"/>
          </a:xfrm>
          <a:prstGeom prst="roundRect">
            <a:avLst>
              <a:gd name="adj" fmla="val 8571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235440" y="19659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145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v2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07808" y="3291840"/>
            <a:ext cx="0" cy="777240"/>
          </a:xfrm>
          <a:prstGeom prst="line">
            <a:avLst/>
          </a:prstGeom>
          <a:noFill/>
          <a:ln w="44450">
            <a:solidFill>
              <a:srgbClr val="156B5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305288" y="3291840"/>
            <a:ext cx="0" cy="777240"/>
          </a:xfrm>
          <a:prstGeom prst="line">
            <a:avLst/>
          </a:prstGeom>
          <a:noFill/>
          <a:ln w="44450">
            <a:solidFill>
              <a:srgbClr val="156B5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178040" y="4160520"/>
            <a:ext cx="3474720" cy="1600200"/>
          </a:xfrm>
          <a:prstGeom prst="can">
            <a:avLst/>
          </a:prstGeom>
          <a:solidFill>
            <a:srgbClr val="156B5B"/>
          </a:solidFill>
          <a:ln w="20320">
            <a:solidFill>
              <a:srgbClr val="156B5B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78040" y="4709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51389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data, persisted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· TWO KINDS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volumes vs bind mounts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41448"/>
            <a:ext cx="777240" cy="77724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6" name="Image 0" descr="/home/claude/icon_h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6658" y="2627986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5328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volume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832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manages where it lives. Best for data — like a database.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60120" y="4480560"/>
            <a:ext cx="4709160" cy="1234440"/>
          </a:xfrm>
          <a:prstGeom prst="roundRect">
            <a:avLst>
              <a:gd name="adj" fmla="val 8889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07592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60120" y="5010912"/>
            <a:ext cx="470916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07592" y="511149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 pgdata: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549554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/var/lib/postgresql/data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46520" y="214884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20840" y="2441448"/>
            <a:ext cx="777240" cy="777240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6" name="Image 1" descr="/home/claude/icon_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378" y="2627986"/>
            <a:ext cx="404165" cy="40416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680960" y="25328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 mount</a:t>
            </a:r>
            <a:endParaRPr lang="en-US" sz="2300" dirty="0"/>
          </a:p>
        </p:txBody>
      </p:sp>
      <p:sp>
        <p:nvSpPr>
          <p:cNvPr id="18" name="Text 14"/>
          <p:cNvSpPr txBox="1"/>
          <p:nvPr/>
        </p:nvSpPr>
        <p:spPr>
          <a:xfrm>
            <a:off x="6720840" y="33832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map a folder on your machine. Best for dev — live-edit your source.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720840" y="4480560"/>
            <a:ext cx="4709160" cy="1234440"/>
          </a:xfrm>
          <a:prstGeom prst="roundRect">
            <a:avLst>
              <a:gd name="adj" fmla="val 8889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068312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720840" y="5010912"/>
            <a:ext cx="470916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068312" y="511149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 ./src:/app/src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068312" y="549554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(host : container)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· IN PRACTICE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and using a volume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6720840" cy="3950208"/>
          </a:xfrm>
          <a:prstGeom prst="roundRect">
            <a:avLst>
              <a:gd name="adj" fmla="val 2778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33272" y="2103120"/>
            <a:ext cx="6172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450592"/>
            <a:ext cx="672084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551176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a named volume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2990088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volume create pgdata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867912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 it when you run Postgres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4306824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-d \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4745736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-v pgdata:/var/lib/postgresql/data \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184648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postgres:16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11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Handy commands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2651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ls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29626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volumes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inspect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37856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where it lives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297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rm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60857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it (data too)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8346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containers find and talk to each other.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 · THE PROBLEM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Containers are isolated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each container is sealed off. So how does the web container even reach the database container?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371600" y="32461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20440"/>
            <a:ext cx="1005840" cy="100584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7" name="Image 0" descr="/home/claude/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3162" y="37618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269480" y="32461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9640" y="3520440"/>
            <a:ext cx="1005840" cy="1005840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1" name="Image 1" descr="/home/claude/icon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1042" y="3761842"/>
            <a:ext cx="523037" cy="5230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148840" cy="0"/>
          </a:xfrm>
          <a:prstGeom prst="line">
            <a:avLst/>
          </a:prstGeom>
          <a:noFill/>
          <a:ln w="44450">
            <a:solidFill>
              <a:srgbClr val="8F4E14"/>
            </a:solidFill>
            <a:prstDash val="dash"/>
          </a:ln>
        </p:spPr>
      </p:sp>
      <p:sp>
        <p:nvSpPr>
          <p:cNvPr id="14" name="Text 10"/>
          <p:cNvSpPr txBox="1"/>
          <p:nvPr/>
        </p:nvSpPr>
        <p:spPr>
          <a:xfrm>
            <a:off x="5623560" y="359359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F4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600" dirty="0"/>
          </a:p>
        </p:txBody>
      </p:sp>
      <p:sp>
        <p:nvSpPr>
          <p:cNvPr id="15" name="Text 11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 · THE FIX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network, names just work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both on the same network and Docker gives them DNS — each reaches the other by its name.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280160" y="2788920"/>
            <a:ext cx="9601200" cy="2834640"/>
          </a:xfrm>
          <a:prstGeom prst="roundRect">
            <a:avLst>
              <a:gd name="adj" fmla="val 4516"/>
            </a:avLst>
          </a:prstGeom>
          <a:solidFill>
            <a:srgbClr val="E4EDF4"/>
          </a:solidFill>
          <a:ln w="31750">
            <a:solidFill>
              <a:srgbClr val="0A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0020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network:  appnet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874520" y="35661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9FB4C0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36392" y="3822192"/>
            <a:ext cx="950976" cy="950976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9" name="Image 0" descr="/home/claude/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626" y="4050426"/>
            <a:ext cx="494508" cy="4945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4800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858000" y="35661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9FB4C0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119872" y="3822192"/>
            <a:ext cx="950976" cy="950976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3" name="Image 1" descr="/home/claude/icon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106" y="4050426"/>
            <a:ext cx="494508" cy="4945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0" y="4800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440680" y="4434840"/>
            <a:ext cx="1371600" cy="0"/>
          </a:xfrm>
          <a:prstGeom prst="line">
            <a:avLst/>
          </a:prstGeom>
          <a:noFill/>
          <a:ln w="50800">
            <a:solidFill>
              <a:srgbClr val="156B5B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470916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to  db:5432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 · THE GOTCHA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name, not localhost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container, localhost means the container itself. To reach another container, use its name.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257800" cy="2514600"/>
          </a:xfrm>
          <a:prstGeom prst="roundRect">
            <a:avLst>
              <a:gd name="adj" fmla="val 4364"/>
            </a:avLst>
          </a:prstGeom>
          <a:solidFill>
            <a:srgbClr val="F5E7D4"/>
          </a:solidFill>
          <a:ln w="31750">
            <a:solidFill>
              <a:srgbClr val="8F4E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1729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8F4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localhost:5432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4348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container talking to itself — nothing is listening there.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46520" y="2880360"/>
            <a:ext cx="5257800" cy="2514600"/>
          </a:xfrm>
          <a:prstGeom prst="roundRect">
            <a:avLst>
              <a:gd name="adj" fmla="val 4364"/>
            </a:avLst>
          </a:prstGeom>
          <a:solidFill>
            <a:srgbClr val="DBEDE6"/>
          </a:solidFill>
          <a:ln w="31750">
            <a:solidFill>
              <a:srgbClr val="156B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1729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15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365760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db:5432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44348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name resolves to the database container.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 · A COMMON MIX-UP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a port is different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 opens a door from your laptop to a container. Container-to-container traffic is the network's job.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880360" cy="1554480"/>
          </a:xfrm>
          <a:prstGeom prst="roundRect">
            <a:avLst>
              <a:gd name="adj" fmla="val 705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68780" y="3081528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7" name="Image 0" descr="/home/claude/icon_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236" y="3300984"/>
            <a:ext cx="475488" cy="4754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browser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663440" y="2880360"/>
            <a:ext cx="2880360" cy="1554480"/>
          </a:xfrm>
          <a:prstGeom prst="roundRect">
            <a:avLst>
              <a:gd name="adj" fmla="val 705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46420" y="3081528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1" name="Image 1" descr="/home/claude/icon_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6" y="3300984"/>
            <a:ext cx="475488" cy="4754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641080" y="2880360"/>
            <a:ext cx="2880360" cy="1554480"/>
          </a:xfrm>
          <a:prstGeom prst="roundRect">
            <a:avLst>
              <a:gd name="adj" fmla="val 705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624060" y="3081528"/>
            <a:ext cx="914400" cy="914400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5" name="Image 2" descr="/home/claude/icon_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3516" y="3300984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4108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3383280" y="3657600"/>
            <a:ext cx="1188720" cy="0"/>
          </a:xfrm>
          <a:prstGeom prst="line">
            <a:avLst/>
          </a:prstGeom>
          <a:noFill/>
          <a:ln w="50800">
            <a:solidFill>
              <a:srgbClr val="0A6BA8"/>
            </a:solidFill>
            <a:prstDash val="solid"/>
            <a:tailEnd type="triangle"/>
          </a:ln>
        </p:spPr>
      </p:sp>
      <p:sp>
        <p:nvSpPr>
          <p:cNvPr id="18" name="Text 13"/>
          <p:cNvSpPr txBox="1"/>
          <p:nvPr/>
        </p:nvSpPr>
        <p:spPr>
          <a:xfrm>
            <a:off x="2788920" y="3154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3000:3000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2788920" y="3877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360920" y="3657600"/>
            <a:ext cx="1188720" cy="0"/>
          </a:xfrm>
          <a:prstGeom prst="line">
            <a:avLst/>
          </a:prstGeom>
          <a:noFill/>
          <a:ln w="50800">
            <a:solidFill>
              <a:srgbClr val="156B5B"/>
            </a:solidFill>
            <a:prstDash val="solid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6903720" y="3154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db:5432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6903720" y="3877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only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85800" y="4983480"/>
            <a:ext cx="10835640" cy="960120"/>
          </a:xfrm>
          <a:prstGeom prst="roundRect">
            <a:avLst>
              <a:gd name="adj" fmla="val 11429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60120" y="49834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A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 </a:t>
            </a:r>
            <a:pPr indent="0" marL="0">
              <a:buNone/>
            </a:pPr>
            <a:r>
              <a:rPr lang="en-US" sz="17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needs -p only to reach it from your laptop. web reaches it over the network regardless.</a:t>
            </a:r>
            <a:endParaRPr lang="en-US" sz="1750" dirty="0"/>
          </a:p>
        </p:txBody>
      </p:sp>
      <p:sp>
        <p:nvSpPr>
          <p:cNvPr id="25" name="Text 20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 · THE MENU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network types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0835640" cy="786384"/>
          </a:xfrm>
          <a:prstGeom prst="roundRect">
            <a:avLst>
              <a:gd name="adj" fmla="val 11628"/>
            </a:avLst>
          </a:prstGeom>
          <a:solidFill>
            <a:srgbClr val="CBDDEA"/>
          </a:solidFill>
          <a:ln w="31750">
            <a:solidFill>
              <a:srgbClr val="0A6B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286000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— containers on one host talk over a private network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28600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i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you'll use this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3218688"/>
            <a:ext cx="10835640" cy="786384"/>
          </a:xfrm>
          <a:prstGeom prst="roundRect">
            <a:avLst>
              <a:gd name="adj" fmla="val 11628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218688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218688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host's network directly — no isolation, no port mapping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685800" y="4151376"/>
            <a:ext cx="10835640" cy="786384"/>
          </a:xfrm>
          <a:prstGeom prst="roundRect">
            <a:avLst>
              <a:gd name="adj" fmla="val 11628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151376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41513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networking at all — fully isolated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685800" y="5084064"/>
            <a:ext cx="10835640" cy="786384"/>
          </a:xfrm>
          <a:prstGeom prst="roundRect">
            <a:avLst>
              <a:gd name="adj" fmla="val 11628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5084064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508406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multiple hosts — for Swarm / clusters</a:t>
            </a:r>
            <a:endParaRPr lang="en-US" sz="17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1264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single-machine app, a user-defined bridge network is all you need.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8346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Compose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the whole app in one file.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THE PROBLEM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to wire by hand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containers already means a network, a volume, and two long run commands — every time, in the right order.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355080" y="187452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702552" y="205740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2404872"/>
            <a:ext cx="516636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02552" y="2505456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create appnet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702552" y="29443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volume create pgdata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702552" y="338328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-d --network appnet \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702552" y="3822192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-v pgdata:/var/lib/... \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4261104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--name db postgres:16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4700016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D5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-d --network appnet \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702552" y="51389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-p 3000:3000 --name web myapp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702552" y="557784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…and again after every change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THE FIX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file, one command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every service once in compose.yaml. Then bring the whole app up — or down — with a single command.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965960" y="320040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CBDDEA"/>
          </a:solidFill>
          <a:ln w="31750">
            <a:solidFill>
              <a:srgbClr val="0A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65960" y="3200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23560" y="3931920"/>
            <a:ext cx="1097280" cy="0"/>
          </a:xfrm>
          <a:prstGeom prst="line">
            <a:avLst/>
          </a:prstGeom>
          <a:noFill/>
          <a:ln w="57150">
            <a:solidFill>
              <a:srgbClr val="0A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903720" y="3200400"/>
            <a:ext cx="3474720" cy="1463040"/>
          </a:xfrm>
          <a:prstGeom prst="roundRect">
            <a:avLst>
              <a:gd name="adj" fmla="val 7500"/>
            </a:avLst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903720" y="33649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running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886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db + network + volume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5074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THE VOCABULARY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service is a container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under services describes one container: its image (or build), ports, env, and volumes.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3319272"/>
            <a:ext cx="822960" cy="82296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7" name="Image 0" descr="/home/claude/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630" y="3516782"/>
            <a:ext cx="427939" cy="4279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20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3891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Express app — built from your Dockerfile.</a:t>
            </a:r>
            <a:endParaRPr lang="en-US" sz="1850" dirty="0"/>
          </a:p>
        </p:txBody>
      </p:sp>
      <p:sp>
        <p:nvSpPr>
          <p:cNvPr id="10" name="Shape 7"/>
          <p:cNvSpPr/>
          <p:nvPr/>
        </p:nvSpPr>
        <p:spPr>
          <a:xfrm>
            <a:off x="6446520" y="297180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20840" y="3319272"/>
            <a:ext cx="822960" cy="822960"/>
          </a:xfrm>
          <a:prstGeom prst="ellipse">
            <a:avLst/>
          </a:prstGeom>
          <a:solidFill>
            <a:srgbClr val="156B5B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2" name="Image 1" descr="/home/claude/icon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350" y="3516782"/>
            <a:ext cx="427939" cy="4279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8096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720840" y="43891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— straight from the official image.</a:t>
            </a:r>
            <a:endParaRPr lang="en-US" sz="1850" dirty="0"/>
          </a:p>
        </p:txBody>
      </p:sp>
      <p:sp>
        <p:nvSpPr>
          <p:cNvPr id="15" name="Text 11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THE FILE (1 OF 2)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compose.yaml — the web service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766560" cy="4242816"/>
          </a:xfrm>
          <a:prstGeom prst="roundRect">
            <a:avLst>
              <a:gd name="adj" fmla="val 2586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33272" y="2057400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404872"/>
            <a:ext cx="676656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505456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292608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web:</a:t>
            </a:r>
            <a:pPr indent="0" marL="0">
              <a:buNone/>
            </a:pP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346704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</a:t>
            </a:r>
            <a:pPr indent="0" marL="0">
              <a:buNone/>
            </a:pPr>
            <a:r>
              <a:rPr lang="en-US" sz="160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3767328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</a:t>
            </a:r>
            <a:pPr indent="0" marL="0">
              <a:buNone/>
            </a:pP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4187952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B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"3000:3000"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4608576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pPr indent="0" marL="0">
              <a:buNone/>
            </a:pP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502920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DATABASE_URL:</a:t>
            </a:r>
            <a:pPr indent="0" marL="0">
              <a:buNone/>
            </a:pPr>
            <a:r>
              <a:rPr lang="en-US" sz="1600" dirty="0">
                <a:solidFill>
                  <a:srgbClr val="EEB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...@db:5432/appdb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5449824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</a:t>
            </a:r>
            <a:pPr indent="0" marL="0">
              <a:buNone/>
            </a:pPr>
            <a:r>
              <a:rPr lang="en-US" sz="160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[db]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1965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25603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8529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web from your Dockerfile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3429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7216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web from the browser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42976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db:5432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4590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db by service name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51663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depends_on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5458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db before web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THE FILE (2 OF 2)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compose.yaml — the db &amp; volume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766560" cy="4718304"/>
          </a:xfrm>
          <a:prstGeom prst="roundRect">
            <a:avLst>
              <a:gd name="adj" fmla="val 2326"/>
            </a:avLst>
          </a:prstGeom>
          <a:solidFill>
            <a:srgbClr val="091A23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33272" y="2057400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404872"/>
            <a:ext cx="6766560" cy="0"/>
          </a:xfrm>
          <a:prstGeom prst="line">
            <a:avLst/>
          </a:prstGeom>
          <a:noFill/>
          <a:ln w="1524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505456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pPr indent="0" marL="0">
              <a:buNone/>
            </a:pP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2889504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</a:t>
            </a:r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postgres:16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27355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pPr indent="0" marL="0">
              <a:buNone/>
            </a:pP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365760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POSTGRES_PASSWORD:</a:t>
            </a:r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pw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4041648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POSTGRES_DB:</a:t>
            </a:r>
            <a:pPr indent="0" marL="0">
              <a:buNone/>
            </a:pPr>
            <a:r>
              <a:rPr lang="en-US" sz="1550" dirty="0">
                <a:solidFill>
                  <a:srgbClr val="ECF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appdb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4425696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</a:t>
            </a:r>
            <a:pPr indent="0" marL="0">
              <a:buNone/>
            </a:pP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4809744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EB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pgdata:/var/lib/postgresql/data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557784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volumes:</a:t>
            </a:r>
            <a:pPr indent="0" marL="0">
              <a:buNone/>
            </a:pP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5961888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2C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pgdata:</a:t>
            </a:r>
            <a:pPr indent="0" marL="0">
              <a:buNone/>
            </a:pP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1965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7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5603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8529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Postgres, no build needed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429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environment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37216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database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42976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(service)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4590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pgdata into Postgres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51663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 (top)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5458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the named volume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WHAT YOU GET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and volume, for free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that one file, Compose creates and wires everything — you never run network create or volume create yourself.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0" y="288036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CBDDEA"/>
          </a:solidFill>
          <a:ln w="31750">
            <a:solidFill>
              <a:srgbClr val="0A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0" y="28803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583180" y="3840480"/>
            <a:ext cx="0" cy="411480"/>
          </a:xfrm>
          <a:prstGeom prst="line">
            <a:avLst/>
          </a:prstGeom>
          <a:noFill/>
          <a:ln w="44450">
            <a:solidFill>
              <a:srgbClr val="0A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68680" y="425196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25980" y="4480560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0" name="Image 0" descr="/home/claude/ic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4700016"/>
            <a:ext cx="475488" cy="47548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1560" y="53949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auto-created — talk by name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332220" y="3840480"/>
            <a:ext cx="0" cy="411480"/>
          </a:xfrm>
          <a:prstGeom prst="line">
            <a:avLst/>
          </a:prstGeom>
          <a:noFill/>
          <a:ln w="44450">
            <a:solidFill>
              <a:srgbClr val="0A6BA8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17720" y="425196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875020" y="4480560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15" name="Image 1" descr="/home/claude/icon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4700016"/>
            <a:ext cx="475488" cy="4754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800600" y="53949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 — data persists</a:t>
            </a:r>
            <a:endParaRPr lang="en-US" sz="1550" dirty="0"/>
          </a:p>
        </p:txBody>
      </p:sp>
      <p:sp>
        <p:nvSpPr>
          <p:cNvPr id="17" name="Shape 13"/>
          <p:cNvSpPr/>
          <p:nvPr/>
        </p:nvSpPr>
        <p:spPr>
          <a:xfrm>
            <a:off x="10081260" y="3840480"/>
            <a:ext cx="0" cy="411480"/>
          </a:xfrm>
          <a:prstGeom prst="line">
            <a:avLst/>
          </a:prstGeom>
          <a:noFill/>
          <a:ln w="44450">
            <a:solidFill>
              <a:srgbClr val="0A6BA8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366760" y="425196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E4EDF4"/>
          </a:solidFill>
          <a:ln w="25400">
            <a:solidFill>
              <a:srgbClr val="9FB4C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624060" y="4480560"/>
            <a:ext cx="914400" cy="914400"/>
          </a:xfrm>
          <a:prstGeom prst="ellipse">
            <a:avLst/>
          </a:prstGeom>
          <a:solidFill>
            <a:srgbClr val="0A6BA8"/>
          </a:solidFill>
          <a:ln/>
          <a:effectLst>
            <a:outerShdw sx="100000" sy="100000" kx="0" ky="0" algn="bl" rotWithShape="0" blurRad="114300" dist="38100" dir="5400000">
              <a:srgbClr val="0A1E2A">
                <a:alpha val="22000"/>
              </a:srgbClr>
            </a:outerShdw>
          </a:effectLst>
        </p:spPr>
      </p:sp>
      <p:pic>
        <p:nvPicPr>
          <p:cNvPr id="20" name="Image 2" descr="/home/claude/icon_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3516" y="470001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49640" y="53949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3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db — started together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 · DAILY COMMANDS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3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the whole app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2423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8620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everything in the background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2423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8620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running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794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-f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logs, all services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36118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56248" y="3794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exec db psql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56248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command inside a service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49834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E4EDF4"/>
          </a:solidFill>
          <a:ln w="19050">
            <a:solidFill>
              <a:srgbClr val="9FB4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8408" y="5166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56052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remove the containers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63640" y="4983480"/>
            <a:ext cx="5257800" cy="1097280"/>
          </a:xfrm>
          <a:prstGeom prst="roundRect">
            <a:avLst>
              <a:gd name="adj" fmla="val 8333"/>
            </a:avLst>
          </a:prstGeom>
          <a:solidFill>
            <a:srgbClr val="F5E7D4"/>
          </a:solidFill>
          <a:ln w="25400">
            <a:solidFill>
              <a:srgbClr val="8F4E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6248" y="5166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4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 -v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56052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delete the volumes too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292840" y="64008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CCB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ONE BREATH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Volumes, networks &amp; Compose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C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Volumes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2286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data alive after a container is gone.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C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Networks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32004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reach each other by name, not localhost.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C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41148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 is only for reaching a container from your laptop.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29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C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Compose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50292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CB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declares services, network and volumes; up runs the lot.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C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once · run anywhere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Volumes, Networks &amp; Compose — Classroom</dc:title>
  <dc:subject>PptxGenJS Presentation</dc:subject>
  <dc:creator>Shripada</dc:creator>
  <cp:lastModifiedBy>Shripada</cp:lastModifiedBy>
  <cp:revision>1</cp:revision>
  <dcterms:created xsi:type="dcterms:W3CDTF">2026-09-21T10:37:19Z</dcterms:created>
  <dcterms:modified xsi:type="dcterms:W3CDTF">2026-09-21T10:37:19Z</dcterms:modified>
</cp:coreProperties>
</file>