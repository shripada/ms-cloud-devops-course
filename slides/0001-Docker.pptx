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4252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Set expectations: one idea per slide, no prior DevOps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pain everyone recognizes. This one line is the whole motivation for Docker.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15000"/>
            <a:ext cx="12191695" cy="0"/>
          </a:xfrm>
          <a:prstGeom prst="line">
            <a:avLst/>
          </a:prstGeom>
          <a:noFill/>
          <a:ln w="15240">
            <a:solidFill>
              <a:srgbClr val="0A6BA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15240">
            <a:solidFill>
              <a:srgbClr val="0A6BA8">
                <a:alpha val="33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355080"/>
            <a:ext cx="12191695" cy="0"/>
          </a:xfrm>
          <a:prstGeom prst="line">
            <a:avLst/>
          </a:prstGeom>
          <a:noFill/>
          <a:ln w="15240">
            <a:solidFill>
              <a:srgbClr val="0A6BA8">
                <a:alpha val="21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8F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BEGINNER'S GUIDE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Docker, from </a:t>
            </a:r>
            <a:r>
              <a:rPr lang="en-US" sz="7800" b="1" i="1" dirty="0">
                <a:solidFill>
                  <a:srgbClr val="8FC3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scratch</a:t>
            </a:r>
            <a:endParaRPr lang="en-US" sz="7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6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ideas, one at a time.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052560" y="4425696"/>
            <a:ext cx="960120" cy="566928"/>
          </a:xfrm>
          <a:prstGeom prst="roundRect">
            <a:avLst>
              <a:gd name="adj" fmla="val 6452"/>
            </a:avLst>
          </a:prstGeom>
          <a:solidFill>
            <a:srgbClr val="C9532E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292590" y="4425696"/>
            <a:ext cx="0" cy="566928"/>
          </a:xfrm>
          <a:prstGeom prst="line">
            <a:avLst/>
          </a:prstGeom>
          <a:noFill/>
          <a:ln w="1016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532620" y="4425696"/>
            <a:ext cx="0" cy="566928"/>
          </a:xfrm>
          <a:prstGeom prst="line">
            <a:avLst/>
          </a:prstGeom>
          <a:noFill/>
          <a:ln w="1016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772650" y="4425696"/>
            <a:ext cx="0" cy="566928"/>
          </a:xfrm>
          <a:prstGeom prst="line">
            <a:avLst/>
          </a:prstGeom>
          <a:noFill/>
          <a:ln w="1016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122408" y="4425696"/>
            <a:ext cx="960120" cy="566928"/>
          </a:xfrm>
          <a:prstGeom prst="roundRect">
            <a:avLst>
              <a:gd name="adj" fmla="val 6452"/>
            </a:avLst>
          </a:prstGeom>
          <a:solidFill>
            <a:srgbClr val="0A6BA8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362438" y="4425696"/>
            <a:ext cx="0" cy="566928"/>
          </a:xfrm>
          <a:prstGeom prst="line">
            <a:avLst/>
          </a:prstGeom>
          <a:noFill/>
          <a:ln w="1016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602468" y="4425696"/>
            <a:ext cx="0" cy="566928"/>
          </a:xfrm>
          <a:prstGeom prst="line">
            <a:avLst/>
          </a:prstGeom>
          <a:noFill/>
          <a:ln w="1016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842498" y="4425696"/>
            <a:ext cx="0" cy="566928"/>
          </a:xfrm>
          <a:prstGeom prst="line">
            <a:avLst/>
          </a:prstGeom>
          <a:noFill/>
          <a:ln w="1016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587484" y="3749040"/>
            <a:ext cx="960120" cy="566928"/>
          </a:xfrm>
          <a:prstGeom prst="roundRect">
            <a:avLst>
              <a:gd name="adj" fmla="val 6452"/>
            </a:avLst>
          </a:prstGeom>
          <a:solidFill>
            <a:srgbClr val="D9A441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827514" y="3749040"/>
            <a:ext cx="0" cy="566928"/>
          </a:xfrm>
          <a:prstGeom prst="line">
            <a:avLst/>
          </a:prstGeom>
          <a:noFill/>
          <a:ln w="1016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067544" y="3749040"/>
            <a:ext cx="0" cy="566928"/>
          </a:xfrm>
          <a:prstGeom prst="line">
            <a:avLst/>
          </a:prstGeom>
          <a:noFill/>
          <a:ln w="1016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307574" y="3749040"/>
            <a:ext cx="0" cy="566928"/>
          </a:xfrm>
          <a:prstGeom prst="line">
            <a:avLst/>
          </a:prstGeom>
          <a:noFill/>
          <a:ln w="1016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/home/claude/icon_anchor.png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10835640" y="589788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E3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2697480" y="2514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8F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651760" y="288036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2697480" y="3977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6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Docker exist at all?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app needs more than code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2880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run, it also needs a specific set of tools, versions and settings around it — its environment.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498080" y="288036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0A6BA8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498080" y="28803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0" y="173736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EAF2F7"/>
          </a:solidFill>
          <a:ln w="12700">
            <a:solidFill>
              <a:srgbClr val="D5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400800" y="17373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20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92640" y="178308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EAF2F7"/>
          </a:solidFill>
          <a:ln w="12700">
            <a:solidFill>
              <a:srgbClr val="D5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9692640" y="17830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15000" y="338328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EAF2F7"/>
          </a:solidFill>
          <a:ln w="12700">
            <a:solidFill>
              <a:srgbClr val="D5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715000" y="33832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libssl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966960" y="338328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EAF2F7"/>
          </a:solidFill>
          <a:ln w="12700">
            <a:solidFill>
              <a:srgbClr val="D5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966960" y="33832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 vars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66560" y="489204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EAF2F7"/>
          </a:solidFill>
          <a:ln w="12700">
            <a:solidFill>
              <a:srgbClr val="D5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766560" y="48920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3.11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326880" y="489204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EAF2F7"/>
          </a:solidFill>
          <a:ln w="12700">
            <a:solidFill>
              <a:srgbClr val="D5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9326880" y="48920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 files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52120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0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app, a whole tangle of dependencies.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environment differs on every machine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280160" y="2743200"/>
            <a:ext cx="4023360" cy="2377440"/>
          </a:xfrm>
          <a:prstGeom prst="roundRect">
            <a:avLst>
              <a:gd name="adj" fmla="val 4615"/>
            </a:avLst>
          </a:prstGeom>
          <a:solidFill>
            <a:srgbClr val="E2EFE9"/>
          </a:solidFill>
          <a:ln w="19050">
            <a:solidFill>
              <a:srgbClr val="1C7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834640" y="3154680"/>
            <a:ext cx="914400" cy="914400"/>
          </a:xfrm>
          <a:prstGeom prst="ellipse">
            <a:avLst/>
          </a:prstGeom>
          <a:solidFill>
            <a:srgbClr val="1C7A6B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icon_lap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33832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laptop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4526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20 · everything set up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858000" y="2743200"/>
            <a:ext cx="4023360" cy="2377440"/>
          </a:xfrm>
          <a:prstGeom prst="roundRect">
            <a:avLst>
              <a:gd name="adj" fmla="val 4615"/>
            </a:avLst>
          </a:prstGeom>
          <a:solidFill>
            <a:srgbClr val="F6ECDD"/>
          </a:solidFill>
          <a:ln w="19050">
            <a:solidFill>
              <a:srgbClr val="B565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412480" y="3154680"/>
            <a:ext cx="914400" cy="914400"/>
          </a:xfrm>
          <a:prstGeom prst="ellipse">
            <a:avLst/>
          </a:prstGeom>
          <a:solidFill>
            <a:srgbClr val="B5651D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icon_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0" y="33832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85800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server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858000" y="4526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565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16 · missing a library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5303520" y="33832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516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≠</a:t>
            </a:r>
            <a:endParaRPr lang="en-US" sz="4600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55321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code. Different result.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28800"/>
            <a:ext cx="10332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6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"It works on</a:t>
            </a:r>
            <a:endParaRPr lang="en-US" sz="6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6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machine…"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4480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F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every developer, eventually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Docker's answer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28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app and its whole environment into one standard unit that runs the same everywhere.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3063240"/>
            <a:ext cx="5029200" cy="2286000"/>
          </a:xfrm>
          <a:prstGeom prst="roundRect">
            <a:avLst>
              <a:gd name="adj" fmla="val 4800"/>
            </a:avLst>
          </a:prstGeom>
          <a:solidFill>
            <a:srgbClr val="F6ECDD"/>
          </a:solidFill>
          <a:ln w="19050">
            <a:solidFill>
              <a:srgbClr val="B565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3383280"/>
            <a:ext cx="640080" cy="640080"/>
          </a:xfrm>
          <a:prstGeom prst="ellipse">
            <a:avLst/>
          </a:prstGeom>
          <a:solidFill>
            <a:srgbClr val="B5651D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icon_ti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35433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83080" y="34472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Docker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41605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"Install this, set those, and hope your versions match mine."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446520" y="3063240"/>
            <a:ext cx="5029200" cy="2286000"/>
          </a:xfrm>
          <a:prstGeom prst="roundRect">
            <a:avLst>
              <a:gd name="adj" fmla="val 4800"/>
            </a:avLst>
          </a:prstGeom>
          <a:solidFill>
            <a:srgbClr val="E2EFE9"/>
          </a:solidFill>
          <a:ln w="19050">
            <a:solidFill>
              <a:srgbClr val="1C7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720840" y="3383280"/>
            <a:ext cx="640080" cy="640080"/>
          </a:xfrm>
          <a:prstGeom prst="ellipse">
            <a:avLst/>
          </a:prstGeom>
          <a:solidFill>
            <a:srgbClr val="1C7A6B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0860" y="35433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543800" y="34472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Docker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6720840" y="41605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"Just run this one image." It behaves the same on any machine.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E3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2697480" y="2514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8F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651760" y="288036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Docker?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2697480" y="3977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6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idea, and why it's called a container.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DOCKER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011680"/>
            <a:ext cx="6766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packages software into </a:t>
            </a:r>
            <a:r>
              <a:rPr lang="en-US" sz="3000" b="1" dirty="0">
                <a:solidFill>
                  <a:srgbClr val="0A6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containers</a:t>
            </a:r>
            <a:r>
              <a:rPr lang="en-US" sz="3000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boxes that hold an app and everything it needs to run.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0" y="1554480"/>
            <a:ext cx="3749040" cy="4023360"/>
          </a:xfrm>
          <a:prstGeom prst="roundRect">
            <a:avLst>
              <a:gd name="adj" fmla="val 2927"/>
            </a:avLst>
          </a:prstGeom>
          <a:solidFill>
            <a:srgbClr val="07293D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0" y="2935224"/>
            <a:ext cx="822960" cy="493776"/>
          </a:xfrm>
          <a:prstGeom prst="roundRect">
            <a:avLst>
              <a:gd name="adj" fmla="val 7407"/>
            </a:avLst>
          </a:prstGeom>
          <a:solidFill>
            <a:srgbClr val="C9532E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892540" y="2935224"/>
            <a:ext cx="0" cy="493776"/>
          </a:xfrm>
          <a:prstGeom prst="line">
            <a:avLst/>
          </a:prstGeom>
          <a:noFill/>
          <a:ln w="1016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098280" y="2935224"/>
            <a:ext cx="0" cy="493776"/>
          </a:xfrm>
          <a:prstGeom prst="line">
            <a:avLst/>
          </a:prstGeom>
          <a:noFill/>
          <a:ln w="1016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304020" y="2935224"/>
            <a:ext cx="0" cy="493776"/>
          </a:xfrm>
          <a:prstGeom prst="line">
            <a:avLst/>
          </a:prstGeom>
          <a:noFill/>
          <a:ln w="1016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619488" y="2935224"/>
            <a:ext cx="822960" cy="493776"/>
          </a:xfrm>
          <a:prstGeom prst="roundRect">
            <a:avLst>
              <a:gd name="adj" fmla="val 7407"/>
            </a:avLst>
          </a:prstGeom>
          <a:solidFill>
            <a:srgbClr val="1C7A6B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825228" y="2935224"/>
            <a:ext cx="0" cy="493776"/>
          </a:xfrm>
          <a:prstGeom prst="line">
            <a:avLst/>
          </a:prstGeom>
          <a:noFill/>
          <a:ln w="1016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030968" y="2935224"/>
            <a:ext cx="0" cy="493776"/>
          </a:xfrm>
          <a:prstGeom prst="line">
            <a:avLst/>
          </a:prstGeom>
          <a:noFill/>
          <a:ln w="1016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236708" y="2935224"/>
            <a:ext cx="0" cy="493776"/>
          </a:xfrm>
          <a:prstGeom prst="line">
            <a:avLst/>
          </a:prstGeom>
          <a:noFill/>
          <a:ln w="1016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153144" y="2331720"/>
            <a:ext cx="822960" cy="493776"/>
          </a:xfrm>
          <a:prstGeom prst="roundRect">
            <a:avLst>
              <a:gd name="adj" fmla="val 7407"/>
            </a:avLst>
          </a:prstGeom>
          <a:solidFill>
            <a:srgbClr val="D9A441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358884" y="2331720"/>
            <a:ext cx="0" cy="493776"/>
          </a:xfrm>
          <a:prstGeom prst="line">
            <a:avLst/>
          </a:prstGeom>
          <a:noFill/>
          <a:ln w="1016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564624" y="2331720"/>
            <a:ext cx="0" cy="493776"/>
          </a:xfrm>
          <a:prstGeom prst="line">
            <a:avLst/>
          </a:prstGeom>
          <a:noFill/>
          <a:ln w="1016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770364" y="2331720"/>
            <a:ext cx="0" cy="493776"/>
          </a:xfrm>
          <a:prstGeom prst="line">
            <a:avLst/>
          </a:prstGeom>
          <a:noFill/>
          <a:ln w="1016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29600" y="3657600"/>
            <a:ext cx="2834640" cy="1188720"/>
          </a:xfrm>
          <a:prstGeom prst="ellipse">
            <a:avLst/>
          </a:prstGeom>
          <a:solidFill>
            <a:srgbClr val="0A6BA8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 rot="-1500000">
            <a:off x="7909560" y="3840480"/>
            <a:ext cx="594360" cy="640080"/>
          </a:xfrm>
          <a:prstGeom prst="triangle">
            <a:avLst/>
          </a:prstGeom>
          <a:solidFill>
            <a:srgbClr val="0A6B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378440" y="3895344"/>
            <a:ext cx="137160" cy="1371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772400" y="5029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once · run anywhere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DOCKER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“container”?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74520"/>
            <a:ext cx="5852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containers made the outside a standard shape — so any crane or ship could move any box, without caring what's inside.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448056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0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does the same for software.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589520" y="2286000"/>
            <a:ext cx="1051560" cy="603504"/>
          </a:xfrm>
          <a:prstGeom prst="roundRect">
            <a:avLst>
              <a:gd name="adj" fmla="val 6061"/>
            </a:avLst>
          </a:prstGeom>
          <a:solidFill>
            <a:srgbClr val="C9532E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852410" y="2286000"/>
            <a:ext cx="0" cy="603504"/>
          </a:xfrm>
          <a:prstGeom prst="line">
            <a:avLst/>
          </a:prstGeom>
          <a:noFill/>
          <a:ln w="1016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115300" y="2286000"/>
            <a:ext cx="0" cy="603504"/>
          </a:xfrm>
          <a:prstGeom prst="line">
            <a:avLst/>
          </a:prstGeom>
          <a:noFill/>
          <a:ln w="1016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378190" y="2286000"/>
            <a:ext cx="0" cy="603504"/>
          </a:xfrm>
          <a:prstGeom prst="line">
            <a:avLst/>
          </a:prstGeom>
          <a:noFill/>
          <a:ln w="1016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769096" y="2286000"/>
            <a:ext cx="1051560" cy="603504"/>
          </a:xfrm>
          <a:prstGeom prst="roundRect">
            <a:avLst>
              <a:gd name="adj" fmla="val 6061"/>
            </a:avLst>
          </a:prstGeom>
          <a:solidFill>
            <a:srgbClr val="D9A441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031986" y="2286000"/>
            <a:ext cx="0" cy="603504"/>
          </a:xfrm>
          <a:prstGeom prst="line">
            <a:avLst/>
          </a:prstGeom>
          <a:noFill/>
          <a:ln w="1016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294876" y="2286000"/>
            <a:ext cx="0" cy="603504"/>
          </a:xfrm>
          <a:prstGeom prst="line">
            <a:avLst/>
          </a:prstGeom>
          <a:noFill/>
          <a:ln w="1016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557766" y="2286000"/>
            <a:ext cx="0" cy="603504"/>
          </a:xfrm>
          <a:prstGeom prst="line">
            <a:avLst/>
          </a:prstGeom>
          <a:noFill/>
          <a:ln w="1016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948672" y="2286000"/>
            <a:ext cx="1051560" cy="603504"/>
          </a:xfrm>
          <a:prstGeom prst="roundRect">
            <a:avLst>
              <a:gd name="adj" fmla="val 6061"/>
            </a:avLst>
          </a:prstGeom>
          <a:solidFill>
            <a:srgbClr val="0A6BA8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211562" y="2286000"/>
            <a:ext cx="0" cy="603504"/>
          </a:xfrm>
          <a:prstGeom prst="line">
            <a:avLst/>
          </a:prstGeom>
          <a:noFill/>
          <a:ln w="1016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474452" y="2286000"/>
            <a:ext cx="0" cy="603504"/>
          </a:xfrm>
          <a:prstGeom prst="line">
            <a:avLst/>
          </a:prstGeom>
          <a:noFill/>
          <a:ln w="1016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737342" y="2286000"/>
            <a:ext cx="0" cy="603504"/>
          </a:xfrm>
          <a:prstGeom prst="line">
            <a:avLst/>
          </a:prstGeom>
          <a:noFill/>
          <a:ln w="1016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589520" y="3017520"/>
            <a:ext cx="1051560" cy="603504"/>
          </a:xfrm>
          <a:prstGeom prst="roundRect">
            <a:avLst>
              <a:gd name="adj" fmla="val 6061"/>
            </a:avLst>
          </a:prstGeom>
          <a:solidFill>
            <a:srgbClr val="1C7A6B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852410" y="3017520"/>
            <a:ext cx="0" cy="603504"/>
          </a:xfrm>
          <a:prstGeom prst="line">
            <a:avLst/>
          </a:prstGeom>
          <a:noFill/>
          <a:ln w="1016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115300" y="3017520"/>
            <a:ext cx="0" cy="603504"/>
          </a:xfrm>
          <a:prstGeom prst="line">
            <a:avLst/>
          </a:prstGeom>
          <a:noFill/>
          <a:ln w="1016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378190" y="3017520"/>
            <a:ext cx="0" cy="603504"/>
          </a:xfrm>
          <a:prstGeom prst="line">
            <a:avLst/>
          </a:prstGeom>
          <a:noFill/>
          <a:ln w="1016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769096" y="3017520"/>
            <a:ext cx="1051560" cy="603504"/>
          </a:xfrm>
          <a:prstGeom prst="roundRect">
            <a:avLst>
              <a:gd name="adj" fmla="val 6061"/>
            </a:avLst>
          </a:prstGeom>
          <a:solidFill>
            <a:srgbClr val="0A6BA8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031986" y="3017520"/>
            <a:ext cx="0" cy="603504"/>
          </a:xfrm>
          <a:prstGeom prst="line">
            <a:avLst/>
          </a:prstGeom>
          <a:noFill/>
          <a:ln w="1016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294876" y="3017520"/>
            <a:ext cx="0" cy="603504"/>
          </a:xfrm>
          <a:prstGeom prst="line">
            <a:avLst/>
          </a:prstGeom>
          <a:noFill/>
          <a:ln w="1016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557766" y="3017520"/>
            <a:ext cx="0" cy="603504"/>
          </a:xfrm>
          <a:prstGeom prst="line">
            <a:avLst/>
          </a:prstGeom>
          <a:noFill/>
          <a:ln w="1016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948672" y="3017520"/>
            <a:ext cx="1051560" cy="603504"/>
          </a:xfrm>
          <a:prstGeom prst="roundRect">
            <a:avLst>
              <a:gd name="adj" fmla="val 6061"/>
            </a:avLst>
          </a:prstGeom>
          <a:solidFill>
            <a:srgbClr val="C9532E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0211562" y="3017520"/>
            <a:ext cx="0" cy="603504"/>
          </a:xfrm>
          <a:prstGeom prst="line">
            <a:avLst/>
          </a:prstGeom>
          <a:noFill/>
          <a:ln w="1016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0474452" y="3017520"/>
            <a:ext cx="0" cy="603504"/>
          </a:xfrm>
          <a:prstGeom prst="line">
            <a:avLst/>
          </a:prstGeom>
          <a:noFill/>
          <a:ln w="1016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737342" y="3017520"/>
            <a:ext cx="0" cy="603504"/>
          </a:xfrm>
          <a:prstGeom prst="line">
            <a:avLst/>
          </a:prstGeom>
          <a:noFill/>
          <a:ln w="1016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589520" y="3749040"/>
            <a:ext cx="1051560" cy="603504"/>
          </a:xfrm>
          <a:prstGeom prst="roundRect">
            <a:avLst>
              <a:gd name="adj" fmla="val 6061"/>
            </a:avLst>
          </a:prstGeom>
          <a:solidFill>
            <a:srgbClr val="D9A441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852410" y="3749040"/>
            <a:ext cx="0" cy="603504"/>
          </a:xfrm>
          <a:prstGeom prst="line">
            <a:avLst/>
          </a:prstGeom>
          <a:noFill/>
          <a:ln w="1016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115300" y="3749040"/>
            <a:ext cx="0" cy="603504"/>
          </a:xfrm>
          <a:prstGeom prst="line">
            <a:avLst/>
          </a:prstGeom>
          <a:noFill/>
          <a:ln w="1016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378190" y="3749040"/>
            <a:ext cx="0" cy="603504"/>
          </a:xfrm>
          <a:prstGeom prst="line">
            <a:avLst/>
          </a:prstGeom>
          <a:noFill/>
          <a:ln w="1016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769096" y="3749040"/>
            <a:ext cx="1051560" cy="603504"/>
          </a:xfrm>
          <a:prstGeom prst="roundRect">
            <a:avLst>
              <a:gd name="adj" fmla="val 6061"/>
            </a:avLst>
          </a:prstGeom>
          <a:solidFill>
            <a:srgbClr val="C9532E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031986" y="3749040"/>
            <a:ext cx="0" cy="603504"/>
          </a:xfrm>
          <a:prstGeom prst="line">
            <a:avLst/>
          </a:prstGeom>
          <a:noFill/>
          <a:ln w="1016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294876" y="3749040"/>
            <a:ext cx="0" cy="603504"/>
          </a:xfrm>
          <a:prstGeom prst="line">
            <a:avLst/>
          </a:prstGeom>
          <a:noFill/>
          <a:ln w="1016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9557766" y="3749040"/>
            <a:ext cx="0" cy="603504"/>
          </a:xfrm>
          <a:prstGeom prst="line">
            <a:avLst/>
          </a:prstGeom>
          <a:noFill/>
          <a:ln w="1016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948672" y="3749040"/>
            <a:ext cx="1051560" cy="603504"/>
          </a:xfrm>
          <a:prstGeom prst="roundRect">
            <a:avLst>
              <a:gd name="adj" fmla="val 6061"/>
            </a:avLst>
          </a:prstGeom>
          <a:solidFill>
            <a:srgbClr val="1C7A6B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0211562" y="3749040"/>
            <a:ext cx="0" cy="603504"/>
          </a:xfrm>
          <a:prstGeom prst="line">
            <a:avLst/>
          </a:prstGeom>
          <a:noFill/>
          <a:ln w="1016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0474452" y="3749040"/>
            <a:ext cx="0" cy="603504"/>
          </a:xfrm>
          <a:prstGeom prst="line">
            <a:avLst/>
          </a:prstGeom>
          <a:noFill/>
          <a:ln w="1016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0737342" y="3749040"/>
            <a:ext cx="0" cy="603504"/>
          </a:xfrm>
          <a:prstGeom prst="line">
            <a:avLst/>
          </a:prstGeom>
          <a:noFill/>
          <a:ln w="10160">
            <a:solidFill>
              <a:srgbClr val="FFFFFF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DOCKER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container is not a virtual machine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45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VM carries a whole operating system. A container shares the host's and packs only the app.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688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Machines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926080"/>
            <a:ext cx="1481328" cy="457200"/>
          </a:xfrm>
          <a:prstGeom prst="roundRect">
            <a:avLst>
              <a:gd name="adj" fmla="val 8000"/>
            </a:avLst>
          </a:prstGeom>
          <a:solidFill>
            <a:srgbClr val="0A6B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292608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3419856"/>
            <a:ext cx="1481328" cy="384048"/>
          </a:xfrm>
          <a:prstGeom prst="roundRect">
            <a:avLst>
              <a:gd name="adj" fmla="val 9524"/>
            </a:avLst>
          </a:prstGeom>
          <a:solidFill>
            <a:srgbClr val="D6E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22960" y="341985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Bins / Libs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3840480"/>
            <a:ext cx="1481328" cy="658368"/>
          </a:xfrm>
          <a:prstGeom prst="roundRect">
            <a:avLst>
              <a:gd name="adj" fmla="val 5556"/>
            </a:avLst>
          </a:prstGeom>
          <a:solidFill>
            <a:srgbClr val="C9C0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22960" y="3840480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C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14016" y="2926080"/>
            <a:ext cx="1481328" cy="457200"/>
          </a:xfrm>
          <a:prstGeom prst="roundRect">
            <a:avLst>
              <a:gd name="adj" fmla="val 8000"/>
            </a:avLst>
          </a:prstGeom>
          <a:solidFill>
            <a:srgbClr val="0A6B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2414016" y="292608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14016" y="3419856"/>
            <a:ext cx="1481328" cy="384048"/>
          </a:xfrm>
          <a:prstGeom prst="roundRect">
            <a:avLst>
              <a:gd name="adj" fmla="val 9524"/>
            </a:avLst>
          </a:prstGeom>
          <a:solidFill>
            <a:srgbClr val="D6E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2414016" y="341985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Bins / Libs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414016" y="3840480"/>
            <a:ext cx="1481328" cy="658368"/>
          </a:xfrm>
          <a:prstGeom prst="roundRect">
            <a:avLst>
              <a:gd name="adj" fmla="val 5556"/>
            </a:avLst>
          </a:prstGeom>
          <a:solidFill>
            <a:srgbClr val="C9C0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2414016" y="3840480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C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005072" y="2926080"/>
            <a:ext cx="1481328" cy="457200"/>
          </a:xfrm>
          <a:prstGeom prst="roundRect">
            <a:avLst>
              <a:gd name="adj" fmla="val 8000"/>
            </a:avLst>
          </a:prstGeom>
          <a:solidFill>
            <a:srgbClr val="0A6B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4005072" y="292608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005072" y="3419856"/>
            <a:ext cx="1481328" cy="384048"/>
          </a:xfrm>
          <a:prstGeom prst="roundRect">
            <a:avLst>
              <a:gd name="adj" fmla="val 9524"/>
            </a:avLst>
          </a:prstGeom>
          <a:solidFill>
            <a:srgbClr val="D6E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005072" y="341985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Bins / Libs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005072" y="3840480"/>
            <a:ext cx="1481328" cy="658368"/>
          </a:xfrm>
          <a:prstGeom prst="roundRect">
            <a:avLst>
              <a:gd name="adj" fmla="val 5556"/>
            </a:avLst>
          </a:prstGeom>
          <a:solidFill>
            <a:srgbClr val="C9C0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4005072" y="3840480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C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OS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" y="4590288"/>
            <a:ext cx="4663440" cy="384048"/>
          </a:xfrm>
          <a:prstGeom prst="roundRect">
            <a:avLst>
              <a:gd name="adj" fmla="val 9524"/>
            </a:avLst>
          </a:prstGeom>
          <a:solidFill>
            <a:srgbClr val="5C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822960" y="459028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2960" y="5010912"/>
            <a:ext cx="4663440" cy="365760"/>
          </a:xfrm>
          <a:prstGeom prst="roundRect">
            <a:avLst>
              <a:gd name="adj" fmla="val 10000"/>
            </a:avLst>
          </a:prstGeom>
          <a:solidFill>
            <a:srgbClr val="D6E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822960" y="50109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Operating System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2960" y="5413248"/>
            <a:ext cx="4663440" cy="365760"/>
          </a:xfrm>
          <a:prstGeom prst="roundRect">
            <a:avLst>
              <a:gd name="adj" fmla="val 10000"/>
            </a:avLst>
          </a:prstGeom>
          <a:solidFill>
            <a:srgbClr val="CBCF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822960" y="54132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58978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heavy · GBs · minutes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089904" y="2468880"/>
            <a:ext cx="0" cy="3566160"/>
          </a:xfrm>
          <a:prstGeom prst="line">
            <a:avLst/>
          </a:prstGeom>
          <a:noFill/>
          <a:ln w="15240">
            <a:solidFill>
              <a:srgbClr val="D5DFE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6656832" y="24688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Containers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839712" y="3127248"/>
            <a:ext cx="1481328" cy="566928"/>
          </a:xfrm>
          <a:prstGeom prst="roundRect">
            <a:avLst>
              <a:gd name="adj" fmla="val 6452"/>
            </a:avLst>
          </a:prstGeom>
          <a:solidFill>
            <a:srgbClr val="0A6B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6839712" y="3127248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839712" y="3730752"/>
            <a:ext cx="1481328" cy="548640"/>
          </a:xfrm>
          <a:prstGeom prst="roundRect">
            <a:avLst>
              <a:gd name="adj" fmla="val 6667"/>
            </a:avLst>
          </a:prstGeom>
          <a:solidFill>
            <a:srgbClr val="D6E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6839712" y="3730752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Bins / Libs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430768" y="3127248"/>
            <a:ext cx="1481328" cy="566928"/>
          </a:xfrm>
          <a:prstGeom prst="roundRect">
            <a:avLst>
              <a:gd name="adj" fmla="val 6452"/>
            </a:avLst>
          </a:prstGeom>
          <a:solidFill>
            <a:srgbClr val="0A6B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8430768" y="3127248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8430768" y="3730752"/>
            <a:ext cx="1481328" cy="548640"/>
          </a:xfrm>
          <a:prstGeom prst="roundRect">
            <a:avLst>
              <a:gd name="adj" fmla="val 6667"/>
            </a:avLst>
          </a:prstGeom>
          <a:solidFill>
            <a:srgbClr val="D6E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8430768" y="3730752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Bins / Libs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0021824" y="3127248"/>
            <a:ext cx="1481328" cy="566928"/>
          </a:xfrm>
          <a:prstGeom prst="roundRect">
            <a:avLst>
              <a:gd name="adj" fmla="val 6452"/>
            </a:avLst>
          </a:prstGeom>
          <a:solidFill>
            <a:srgbClr val="0A6B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10021824" y="3127248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10021824" y="3730752"/>
            <a:ext cx="1481328" cy="548640"/>
          </a:xfrm>
          <a:prstGeom prst="roundRect">
            <a:avLst>
              <a:gd name="adj" fmla="val 6667"/>
            </a:avLst>
          </a:prstGeom>
          <a:solidFill>
            <a:srgbClr val="D6E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10021824" y="3730752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Bins / Libs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839712" y="4590288"/>
            <a:ext cx="4663440" cy="384048"/>
          </a:xfrm>
          <a:prstGeom prst="roundRect">
            <a:avLst>
              <a:gd name="adj" fmla="val 9524"/>
            </a:avLst>
          </a:prstGeom>
          <a:solidFill>
            <a:srgbClr val="0A6B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6839712" y="459028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Engine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6839712" y="5010912"/>
            <a:ext cx="4663440" cy="365760"/>
          </a:xfrm>
          <a:prstGeom prst="roundRect">
            <a:avLst>
              <a:gd name="adj" fmla="val 10000"/>
            </a:avLst>
          </a:prstGeom>
          <a:solidFill>
            <a:srgbClr val="D6E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 txBox="1"/>
          <p:nvPr/>
        </p:nvSpPr>
        <p:spPr>
          <a:xfrm>
            <a:off x="6839712" y="50109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Operating System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839712" y="5413248"/>
            <a:ext cx="4663440" cy="365760"/>
          </a:xfrm>
          <a:prstGeom prst="roundRect">
            <a:avLst>
              <a:gd name="adj" fmla="val 10000"/>
            </a:avLst>
          </a:prstGeom>
          <a:solidFill>
            <a:srgbClr val="CBCF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 txBox="1"/>
          <p:nvPr/>
        </p:nvSpPr>
        <p:spPr>
          <a:xfrm>
            <a:off x="6839712" y="54132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6656832" y="58978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light · MBs · seconds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DOCKER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is why containers feel instant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4480560" cy="2468880"/>
          </a:xfrm>
          <a:prstGeom prst="roundRect">
            <a:avLst>
              <a:gd name="adj" fmla="val 4444"/>
            </a:avLst>
          </a:prstGeom>
          <a:solidFill>
            <a:srgbClr val="EA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2971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VIRTUAL MACHINE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38328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516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GBs</a:t>
            </a:r>
            <a:endParaRPr lang="en-US" sz="6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434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 in minutes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720840" y="2651760"/>
            <a:ext cx="4480560" cy="2468880"/>
          </a:xfrm>
          <a:prstGeom prst="roundRect">
            <a:avLst>
              <a:gd name="adj" fmla="val 4444"/>
            </a:avLst>
          </a:prstGeom>
          <a:solidFill>
            <a:srgbClr val="07293D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720840" y="2971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8F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720840" y="338328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MBs</a:t>
            </a:r>
            <a:endParaRPr lang="en-US" sz="66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4434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D6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in seconds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E3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2697480" y="2514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8F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651760" y="288036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words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2697480" y="3977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6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these and the commands stop feeling like magic.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FOUR WORDS  ·  1 OF 4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1371600" cy="1371600"/>
          </a:xfrm>
          <a:prstGeom prst="ellipse">
            <a:avLst/>
          </a:prstGeom>
          <a:solidFill>
            <a:srgbClr val="0A6BA8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icon_docker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7145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377440" y="1417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Dockerfile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2423160" y="2286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plain text file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2461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recipe.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97764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steps to assemble your environment: start from a base, copy in code, install packages.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85800" y="5440680"/>
            <a:ext cx="10607040" cy="777240"/>
          </a:xfrm>
          <a:prstGeom prst="roundRect">
            <a:avLst>
              <a:gd name="adj" fmla="val 14118"/>
            </a:avLst>
          </a:prstGeom>
          <a:solidFill>
            <a:srgbClr val="EAF2F7"/>
          </a:solidFill>
          <a:ln w="12700">
            <a:solidFill>
              <a:srgbClr val="D5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960120" y="54406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like:  </a:t>
            </a:r>
            <a:r>
              <a:rPr lang="en-US" sz="1700" i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recipe card — the instructions, not the meal.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FOUR WORDS  ·  2 OF 4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1371600" cy="1371600"/>
          </a:xfrm>
          <a:prstGeom prst="ellipse">
            <a:avLst/>
          </a:prstGeom>
          <a:solidFill>
            <a:srgbClr val="0A6BA8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icon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7145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377440" y="1417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2423160" y="2286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read-only package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2461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frozen snapshot.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97764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Dockerfile produces an image: the app and its whole environment, ready to run but not running yet.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85800" y="5440680"/>
            <a:ext cx="10607040" cy="777240"/>
          </a:xfrm>
          <a:prstGeom prst="roundRect">
            <a:avLst>
              <a:gd name="adj" fmla="val 14118"/>
            </a:avLst>
          </a:prstGeom>
          <a:solidFill>
            <a:srgbClr val="EAF2F7"/>
          </a:solidFill>
          <a:ln w="12700">
            <a:solidFill>
              <a:srgbClr val="D5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960120" y="54406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like:  </a:t>
            </a:r>
            <a:r>
              <a:rPr lang="en-US" sz="1700" i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cake mould, or a class — a template you stamp copies from.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FOUR WORDS  ·  3 OF 4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1371600" cy="1371600"/>
          </a:xfrm>
          <a:prstGeom prst="ellipse">
            <a:avLst/>
          </a:prstGeom>
          <a:solidFill>
            <a:srgbClr val="0A6BA8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icon_contai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7145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377440" y="1417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2423160" y="2286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running process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2461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running copy.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97764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image brought to life. You can start many containers from one image, each fully isolated.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85800" y="5440680"/>
            <a:ext cx="10607040" cy="777240"/>
          </a:xfrm>
          <a:prstGeom prst="roundRect">
            <a:avLst>
              <a:gd name="adj" fmla="val 14118"/>
            </a:avLst>
          </a:prstGeom>
          <a:solidFill>
            <a:srgbClr val="EAF2F7"/>
          </a:solidFill>
          <a:ln w="12700">
            <a:solidFill>
              <a:srgbClr val="D5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960120" y="54406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like:  </a:t>
            </a:r>
            <a:r>
              <a:rPr lang="en-US" sz="1700" i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 created from a class — one blueprint, many live instances.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FOUR WORDS  ·  4 OF 4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1371600" cy="1371600"/>
          </a:xfrm>
          <a:prstGeom prst="ellipse">
            <a:avLst/>
          </a:prstGeom>
          <a:solidFill>
            <a:srgbClr val="0A6BA8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icon_regis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7145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377440" y="1417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Registry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2423160" y="2286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Hub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2461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library of images.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97764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images are stored and shared. You pull images down from it and push your own up.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85800" y="5440680"/>
            <a:ext cx="10607040" cy="777240"/>
          </a:xfrm>
          <a:prstGeom prst="roundRect">
            <a:avLst>
              <a:gd name="adj" fmla="val 14118"/>
            </a:avLst>
          </a:prstGeom>
          <a:solidFill>
            <a:srgbClr val="EAF2F7"/>
          </a:solidFill>
          <a:ln w="12700">
            <a:solidFill>
              <a:srgbClr val="D5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960120" y="54406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like:  </a:t>
            </a:r>
            <a:r>
              <a:rPr lang="en-US" sz="1700" i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but for images instead of source code.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THEY CONNECT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recipe to running app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709160" y="1874520"/>
            <a:ext cx="2743200" cy="960120"/>
          </a:xfrm>
          <a:prstGeom prst="roundRect">
            <a:avLst>
              <a:gd name="adj" fmla="val 9524"/>
            </a:avLst>
          </a:prstGeom>
          <a:solidFill>
            <a:srgbClr val="EAF2F7"/>
          </a:solidFill>
          <a:ln w="12700">
            <a:solidFill>
              <a:srgbClr val="D5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icon_regis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2121408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532120" y="1975104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" y="356616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EFE7D6"/>
          </a:solidFill>
          <a:ln w="12700">
            <a:solidFill>
              <a:srgbClr val="D9A441"/>
            </a:solidFill>
            <a:prstDash val="solid"/>
          </a:ln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icon_docker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822192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37490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endParaRPr lang="en-US" sz="15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3291840" y="4133088"/>
            <a:ext cx="868680" cy="0"/>
          </a:xfrm>
          <a:prstGeom prst="line">
            <a:avLst/>
          </a:prstGeom>
          <a:noFill/>
          <a:ln w="31750">
            <a:solidFill>
              <a:srgbClr val="0A6BA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 txBox="1"/>
          <p:nvPr/>
        </p:nvSpPr>
        <p:spPr>
          <a:xfrm>
            <a:off x="3154680" y="36758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251960" y="356616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D6E5EE"/>
          </a:solidFill>
          <a:ln w="12700">
            <a:solidFill>
              <a:srgbClr val="0A6BA8"/>
            </a:solidFill>
            <a:prstDash val="solid"/>
          </a:ln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/home/claude/icon_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3822192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029200" y="37490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5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858000" y="4133088"/>
            <a:ext cx="868680" cy="0"/>
          </a:xfrm>
          <a:prstGeom prst="line">
            <a:avLst/>
          </a:prstGeom>
          <a:noFill/>
          <a:ln w="31750">
            <a:solidFill>
              <a:srgbClr val="0A6BA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 txBox="1"/>
          <p:nvPr/>
        </p:nvSpPr>
        <p:spPr>
          <a:xfrm>
            <a:off x="6720840" y="36758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001000" y="3767328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D6E5EE"/>
          </a:solidFill>
          <a:ln w="12700">
            <a:solidFill>
              <a:srgbClr val="0A6B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7909560" y="3666744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D6E5EE"/>
          </a:solidFill>
          <a:ln w="12700">
            <a:solidFill>
              <a:srgbClr val="0A6B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7818120" y="356616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0A6BA8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3" descr="/home/claude/icon_contain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4152" y="3877056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595360" y="3712464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500" dirty="0"/>
          </a:p>
          <a:p>
            <a:pPr marL="0" indent="0">
              <a:buNone/>
            </a:pPr>
            <a:r>
              <a:rPr lang="en-US" sz="1200" i="1" dirty="0">
                <a:solidFill>
                  <a:srgbClr val="D6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5120640" y="2862072"/>
            <a:ext cx="320040" cy="502920"/>
          </a:xfrm>
          <a:prstGeom prst="line">
            <a:avLst/>
          </a:prstGeom>
          <a:noFill/>
          <a:ln w="25400">
            <a:solidFill>
              <a:srgbClr val="0A6BA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 txBox="1"/>
          <p:nvPr/>
        </p:nvSpPr>
        <p:spPr>
          <a:xfrm>
            <a:off x="4389120" y="2926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pull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355080" y="3364992"/>
            <a:ext cx="320040" cy="0"/>
          </a:xfrm>
          <a:prstGeom prst="line">
            <a:avLst/>
          </a:prstGeom>
          <a:noFill/>
          <a:ln w="25400">
            <a:solidFill>
              <a:srgbClr val="0A6BA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 txBox="1"/>
          <p:nvPr/>
        </p:nvSpPr>
        <p:spPr>
          <a:xfrm>
            <a:off x="6720840" y="2926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685800" y="55778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once  →  run anywhere</a:t>
            </a:r>
            <a:endParaRPr lang="en-US" sz="2000" dirty="0"/>
          </a:p>
        </p:txBody>
      </p:sp>
      <p:sp>
        <p:nvSpPr>
          <p:cNvPr id="27" name="Text 21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IT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a real web server in one line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28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setup. Docker pulls the image and starts it.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2606040"/>
            <a:ext cx="9418320" cy="2011680"/>
          </a:xfrm>
          <a:prstGeom prst="roundRect">
            <a:avLst>
              <a:gd name="adj" fmla="val 4545"/>
            </a:avLst>
          </a:prstGeom>
          <a:solidFill>
            <a:srgbClr val="0B1F2A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645920" y="2862072"/>
            <a:ext cx="155448" cy="155448"/>
          </a:xfrm>
          <a:prstGeom prst="ellipse">
            <a:avLst/>
          </a:prstGeom>
          <a:solidFill>
            <a:srgbClr val="E06C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901952" y="2862072"/>
            <a:ext cx="155448" cy="155448"/>
          </a:xfrm>
          <a:prstGeom prst="ellipse">
            <a:avLst/>
          </a:prstGeom>
          <a:solidFill>
            <a:srgbClr val="E0B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157984" y="2862072"/>
            <a:ext cx="155448" cy="155448"/>
          </a:xfrm>
          <a:prstGeom prst="ellipse">
            <a:avLst/>
          </a:prstGeom>
          <a:solidFill>
            <a:srgbClr val="6CBF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71600" y="3209544"/>
            <a:ext cx="9418320" cy="0"/>
          </a:xfrm>
          <a:prstGeom prst="line">
            <a:avLst/>
          </a:prstGeom>
          <a:noFill/>
          <a:ln w="12700">
            <a:solidFill>
              <a:srgbClr val="1D35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737360" y="34747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7BC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run -d -p 8080:80 nginx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40233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C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open http://localhost:8080  →  a real web server answers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371600" y="5029200"/>
            <a:ext cx="4572000" cy="914400"/>
          </a:xfrm>
          <a:prstGeom prst="roundRect">
            <a:avLst>
              <a:gd name="adj" fmla="val 10000"/>
            </a:avLst>
          </a:prstGeom>
          <a:solidFill>
            <a:srgbClr val="EA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645920" y="50292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</a:t>
            </a: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run in the background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63640" y="5029200"/>
            <a:ext cx="4572000" cy="914400"/>
          </a:xfrm>
          <a:prstGeom prst="roundRect">
            <a:avLst>
              <a:gd name="adj" fmla="val 10000"/>
            </a:avLst>
          </a:prstGeom>
          <a:solidFill>
            <a:srgbClr val="EA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537960" y="50292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 8080:80</a:t>
            </a: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map the ports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 YOUR OWN APP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app? Write a Dockerfile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2880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lines describe the whole environment. Docker runs them top to bottom.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3017520"/>
            <a:ext cx="5715000" cy="3017520"/>
          </a:xfrm>
          <a:prstGeom prst="roundRect">
            <a:avLst>
              <a:gd name="adj" fmla="val 3636"/>
            </a:avLst>
          </a:prstGeom>
          <a:solidFill>
            <a:srgbClr val="EAF2F7"/>
          </a:solidFill>
          <a:ln w="12700">
            <a:solidFill>
              <a:srgbClr val="D5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60120" y="3246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Node 20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703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3703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working folder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160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+ RUN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dependencies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617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4617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source code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5074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5074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the port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5532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926080" y="5532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command that starts it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766560" y="2514600"/>
            <a:ext cx="4754880" cy="3566160"/>
          </a:xfrm>
          <a:prstGeom prst="roundRect">
            <a:avLst>
              <a:gd name="adj" fmla="val 2564"/>
            </a:avLst>
          </a:prstGeom>
          <a:solidFill>
            <a:srgbClr val="0B1F2A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086600" y="2834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45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node:20-alpine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7086600" y="3383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</a:t>
            </a:r>
            <a:r>
              <a:rPr lang="en-US" sz="145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/app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3931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r>
              <a:rPr lang="en-US" sz="145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package*.json ./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206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r>
              <a:rPr lang="en-US" sz="145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npm install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47548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r>
              <a:rPr lang="en-US" sz="145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 .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7086600" y="5303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r>
              <a:rPr lang="en-US" sz="145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3000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7086600" y="5577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</a:t>
            </a:r>
            <a:r>
              <a:rPr lang="en-US" sz="145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["node","server.js"]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KEEP THIS NEARBY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commands cover most days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EA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60120" y="231343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-t app 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7157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an image from a Dockerfile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0" y="214884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EA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492240" y="231343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app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7157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container from an image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85800" y="3456432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EA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960120" y="362102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23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running containers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17920" y="3456432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EA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92240" y="362102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stop &lt;id&gt;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023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 container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85800" y="4764024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EA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60120" y="4928616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logs &lt;id&gt;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3309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a container printed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217920" y="4764024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EA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492240" y="4928616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-it &lt;id&gt; sh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53309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inside a running container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61722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16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else, you look up when you need it.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F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ONE BREATH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1430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idea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31720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FC3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2331720"/>
            <a:ext cx="9784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D6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the environment, not the code.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81528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FC3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3081528"/>
            <a:ext cx="9784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D6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container is a light, isolated process — not a VM.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31336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FC3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831336"/>
            <a:ext cx="9784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D6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image is the template; a container is a running copy.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581144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FC3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4581144"/>
            <a:ext cx="9784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D6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Dockerfile builds an image; a registry shares it.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330952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FC3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5330952"/>
            <a:ext cx="9784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D6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· run · ps · stop · logs get you through most days.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once · run anywhere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17720" y="6236208"/>
            <a:ext cx="566928" cy="274320"/>
          </a:xfrm>
          <a:prstGeom prst="ellipse">
            <a:avLst/>
          </a:prstGeom>
          <a:solidFill>
            <a:srgbClr val="0A6B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 rot="18000000">
            <a:off x="4489704" y="6272784"/>
            <a:ext cx="182880" cy="201168"/>
          </a:xfrm>
          <a:prstGeom prst="triangle">
            <a:avLst/>
          </a:prstGeom>
          <a:solidFill>
            <a:srgbClr val="0A6B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38344" y="6318504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961</Words>
  <Application>Microsoft Macintosh PowerPoint</Application>
  <PresentationFormat>Widescreen</PresentationFormat>
  <Paragraphs>222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Docker, From Scratch</dc:title>
  <dc:subject>PptxGenJS Presentation</dc:subject>
  <dc:creator>Shripada</dc:creator>
  <cp:lastModifiedBy>Shripada Hebbar Nellithadka [MAHE-MSIS]</cp:lastModifiedBy>
  <cp:revision>2</cp:revision>
  <dcterms:created xsi:type="dcterms:W3CDTF">2026-09-16T15:41:25Z</dcterms:created>
  <dcterms:modified xsi:type="dcterms:W3CDTF">2026-09-20T11:43:24Z</dcterms:modified>
</cp:coreProperties>
</file>